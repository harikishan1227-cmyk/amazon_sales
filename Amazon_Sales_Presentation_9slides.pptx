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286000" cy="2286000"/>
          </a:xfrm>
          <a:prstGeom prst="ellipse">
            <a:avLst/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594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Did You Know?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109728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Lists Millions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Products —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Which Actually Win?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4290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deep-dive into pricing, discounts,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and category performance on Amazon.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3291840"/>
            <a:ext cx="822960" cy="8229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Analysis  |  Power BI Dashboard Report  |  9-Slide Summary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Presentation Covers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walkthrough of the Amazon Sales Power BI analysis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402336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7452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20824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07592" y="1911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07592" y="2194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raw Amazon data is hard to act 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00600" y="187452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00600" y="1874520"/>
            <a:ext cx="402336" cy="621792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0600" y="187452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2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2020824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50992" y="19110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650992" y="219456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data was collected and how it is structured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" y="260604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57200" y="2606040"/>
            <a:ext cx="402336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57200" y="260604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2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752344"/>
            <a:ext cx="320040" cy="32004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07592" y="2642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307592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design and key visual types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4800600" y="260604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800600" y="2606040"/>
            <a:ext cx="402336" cy="621792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4800600" y="260604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2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2752344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50992" y="264261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Analysis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5650992" y="292608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discounted price insights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457200" y="33375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457200" y="3337560"/>
            <a:ext cx="402336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57200" y="333756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2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83864"/>
            <a:ext cx="320040" cy="32004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07592" y="33741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Ratings &amp; Reviews</a:t>
            </a:r>
            <a:endParaRPr lang="en-US" sz="1300" dirty="0"/>
          </a:p>
        </p:txBody>
      </p:sp>
      <p:sp>
        <p:nvSpPr>
          <p:cNvPr id="35" name="Text 28"/>
          <p:cNvSpPr/>
          <p:nvPr/>
        </p:nvSpPr>
        <p:spPr>
          <a:xfrm>
            <a:off x="1307592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ratings and review volume relate to discounts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4800600" y="333756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4800600" y="3337560"/>
            <a:ext cx="402336" cy="621792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800600" y="333756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2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7800" y="3483864"/>
            <a:ext cx="320040" cy="32004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5650992" y="337413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Breakdown</a:t>
            </a:r>
            <a:endParaRPr lang="en-US" sz="1300" dirty="0"/>
          </a:p>
        </p:txBody>
      </p:sp>
      <p:sp>
        <p:nvSpPr>
          <p:cNvPr id="41" name="Text 33"/>
          <p:cNvSpPr/>
          <p:nvPr/>
        </p:nvSpPr>
        <p:spPr>
          <a:xfrm>
            <a:off x="5650992" y="365760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categories by product count and discount depth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57200" y="40690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5"/>
          <p:cNvSpPr/>
          <p:nvPr/>
        </p:nvSpPr>
        <p:spPr>
          <a:xfrm>
            <a:off x="457200" y="4069080"/>
            <a:ext cx="402336" cy="6217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457200" y="406908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20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215384"/>
            <a:ext cx="320040" cy="320040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07592" y="4105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Results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1307592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KPIs and headline findings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4800600" y="4069080"/>
            <a:ext cx="40690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800600" y="4069080"/>
            <a:ext cx="402336" cy="621792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50" name="Text 41"/>
          <p:cNvSpPr/>
          <p:nvPr/>
        </p:nvSpPr>
        <p:spPr>
          <a:xfrm>
            <a:off x="4800600" y="4069080"/>
            <a:ext cx="40233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200" dirty="0"/>
          </a:p>
        </p:txBody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7800" y="4215384"/>
            <a:ext cx="320040" cy="32004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5650992" y="4105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3" name="Text 43"/>
          <p:cNvSpPr/>
          <p:nvPr/>
        </p:nvSpPr>
        <p:spPr>
          <a:xfrm>
            <a:off x="5650992" y="43891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 with Amazon Sales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analysis of marketplace data is slow, inconsistent and incomplete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060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0604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75104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423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Opacity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2852928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products across categories make it nearly impossible to manually compare actual vs. discounted prices and identify where real value lies.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46120" y="1783080"/>
            <a:ext cx="26060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783080"/>
            <a:ext cx="260604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975104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37560" y="2423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Reliability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2852928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review counts don't always signal quality. Decoding whether ratings correlate with discount depth requires structured, visual analysis.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035040" y="1783080"/>
            <a:ext cx="2606040" cy="2834640"/>
          </a:xfrm>
          <a:prstGeom prst="rect">
            <a:avLst/>
          </a:prstGeom>
          <a:solidFill>
            <a:srgbClr val="FFFFFF"/>
          </a:solidFill>
          <a:ln w="1905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035040" y="1783080"/>
            <a:ext cx="2606040" cy="914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975104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423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Chaos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126480" y="2852928"/>
            <a:ext cx="2423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span 25+ categories. Without clear charts, identifying top-performing segments and low-value categories is guesswork.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Amazon Sales Power BI Dataset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the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collected and how the Amazon dataset is structured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39319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3931920" cy="38404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Data Fields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231136"/>
            <a:ext cx="3931920" cy="329184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3113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2311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5603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product_name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89504"/>
            <a:ext cx="3931920" cy="329184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950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288950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218688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321868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actual_price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34640" y="32186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(₹)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3547872"/>
            <a:ext cx="3931920" cy="329184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547872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discounted_price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354787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(₹)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877056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3877056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discount_percent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387705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(%)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3931920" cy="329184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42062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34640" y="42062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(0–5)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35424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4535424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rating_count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453542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F8F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09160" y="1737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1737360"/>
            <a:ext cx="73152" cy="141732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3752" y="1874520"/>
            <a:ext cx="347472" cy="34747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83717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1,465</a:t>
            </a:r>
            <a:endParaRPr lang="en-US" sz="2400" dirty="0"/>
          </a:p>
        </p:txBody>
      </p:sp>
      <p:sp>
        <p:nvSpPr>
          <p:cNvPr id="37" name="Text 34"/>
          <p:cNvSpPr/>
          <p:nvPr/>
        </p:nvSpPr>
        <p:spPr>
          <a:xfrm>
            <a:off x="4837176" y="2770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Products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858000" y="17373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858000" y="1737360"/>
            <a:ext cx="73152" cy="141732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4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874520"/>
            <a:ext cx="347472" cy="34747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6986016" y="22860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8F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400" dirty="0"/>
          </a:p>
        </p:txBody>
      </p:sp>
      <p:sp>
        <p:nvSpPr>
          <p:cNvPr id="42" name="Text 38"/>
          <p:cNvSpPr/>
          <p:nvPr/>
        </p:nvSpPr>
        <p:spPr>
          <a:xfrm>
            <a:off x="6986016" y="2770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4709160" y="33375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4709160" y="3337560"/>
            <a:ext cx="73152" cy="14173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3474720"/>
            <a:ext cx="347472" cy="347472"/>
          </a:xfrm>
          <a:prstGeom prst="rect">
            <a:avLst/>
          </a:prstGeom>
        </p:spPr>
      </p:pic>
      <p:sp>
        <p:nvSpPr>
          <p:cNvPr id="46" name="Text 41"/>
          <p:cNvSpPr/>
          <p:nvPr/>
        </p:nvSpPr>
        <p:spPr>
          <a:xfrm>
            <a:off x="4837176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47" name="Text 42"/>
          <p:cNvSpPr/>
          <p:nvPr/>
        </p:nvSpPr>
        <p:spPr>
          <a:xfrm>
            <a:off x="4837176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Built</a:t>
            </a:r>
            <a:endParaRPr lang="en-US" sz="1100" dirty="0"/>
          </a:p>
        </p:txBody>
      </p:sp>
      <p:sp>
        <p:nvSpPr>
          <p:cNvPr id="48" name="Shape 43"/>
          <p:cNvSpPr/>
          <p:nvPr/>
        </p:nvSpPr>
        <p:spPr>
          <a:xfrm>
            <a:off x="6858000" y="333756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4"/>
          <p:cNvSpPr/>
          <p:nvPr/>
        </p:nvSpPr>
        <p:spPr>
          <a:xfrm>
            <a:off x="6858000" y="3337560"/>
            <a:ext cx="73152" cy="141732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5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3474720"/>
            <a:ext cx="347472" cy="347472"/>
          </a:xfrm>
          <a:prstGeom prst="rect">
            <a:avLst/>
          </a:prstGeom>
        </p:spPr>
      </p:pic>
      <p:sp>
        <p:nvSpPr>
          <p:cNvPr id="51" name="Text 45"/>
          <p:cNvSpPr/>
          <p:nvPr/>
        </p:nvSpPr>
        <p:spPr>
          <a:xfrm>
            <a:off x="6986016" y="3886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D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Page</a:t>
            </a:r>
            <a:endParaRPr lang="en-US" sz="2400" dirty="0"/>
          </a:p>
        </p:txBody>
      </p:sp>
      <p:sp>
        <p:nvSpPr>
          <p:cNvPr id="52" name="Text 46"/>
          <p:cNvSpPr/>
          <p:nvPr/>
        </p:nvSpPr>
        <p:spPr>
          <a:xfrm>
            <a:off x="6986016" y="43708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</a:t>
            </a:r>
            <a:endParaRPr lang="en-US" sz="1100" dirty="0"/>
          </a:p>
        </p:txBody>
      </p:sp>
      <p:sp>
        <p:nvSpPr>
          <p:cNvPr id="53" name="Text 4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Amazon product listings — single-page Power BI report on one 'amazon' entity table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 — What We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single-page report designed around four analytical dimensions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74520"/>
            <a:ext cx="73152" cy="5943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002536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Analysis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05840" y="218541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&amp; column charts comparing actual vs. discounted prices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5603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560320"/>
            <a:ext cx="73152" cy="5943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68833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05840" y="25877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Intelligence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005840" y="287121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ratings and review counts mapped to discount percentages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2461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246120"/>
            <a:ext cx="73152" cy="5943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374136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Breakdown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05840" y="355701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bar + donut visuals across 25+ product categories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9319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57200" y="3931920"/>
            <a:ext cx="73152" cy="5943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59936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05840" y="39593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KPI Scorecards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005840" y="4242816"/>
            <a:ext cx="3200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visuals for Total Products, Total Categories, Avg Discount &amp; Avg Rating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663440" y="1737360"/>
            <a:ext cx="4023360" cy="31546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Text 21"/>
          <p:cNvSpPr/>
          <p:nvPr/>
        </p:nvSpPr>
        <p:spPr>
          <a:xfrm>
            <a:off x="4754880" y="18288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 Dashboard Preview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4754880" y="228600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6217920" y="2313432"/>
            <a:ext cx="1843430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754880" y="27614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6217920" y="2788920"/>
            <a:ext cx="1536192" cy="18288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4754880" y="323697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6217920" y="3264408"/>
            <a:ext cx="1207008" cy="182880"/>
          </a:xfrm>
          <a:prstGeom prst="rect">
            <a:avLst/>
          </a:prstGeom>
          <a:solidFill>
            <a:srgbClr val="6BA3BE"/>
          </a:solidFill>
          <a:ln w="12700">
            <a:solidFill>
              <a:srgbClr val="6BA3BE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54880" y="371246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6217920" y="3739896"/>
            <a:ext cx="877824" cy="182880"/>
          </a:xfrm>
          <a:prstGeom prst="rect">
            <a:avLst/>
          </a:prstGeom>
          <a:solidFill>
            <a:srgbClr val="94C2D8"/>
          </a:solidFill>
          <a:ln w="12700">
            <a:solidFill>
              <a:srgbClr val="94C2D8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754880" y="418795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37" name="Shape 31"/>
          <p:cNvSpPr/>
          <p:nvPr/>
        </p:nvSpPr>
        <p:spPr>
          <a:xfrm>
            <a:off x="6217920" y="4215384"/>
            <a:ext cx="614477" cy="182880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754880" y="4315968"/>
            <a:ext cx="1188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754880" y="4315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1.4K+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4754880" y="4562856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>
            <a:off x="6080760" y="4315968"/>
            <a:ext cx="1188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080760" y="4315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1300" dirty="0"/>
          </a:p>
        </p:txBody>
      </p:sp>
      <p:sp>
        <p:nvSpPr>
          <p:cNvPr id="43" name="Text 37"/>
          <p:cNvSpPr/>
          <p:nvPr/>
        </p:nvSpPr>
        <p:spPr>
          <a:xfrm>
            <a:off x="6080760" y="4562856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>
            <a:off x="7406640" y="4315968"/>
            <a:ext cx="1188720" cy="45720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406640" y="431596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55%</a:t>
            </a:r>
            <a:endParaRPr lang="en-US" sz="1300" dirty="0"/>
          </a:p>
        </p:txBody>
      </p:sp>
      <p:sp>
        <p:nvSpPr>
          <p:cNvPr id="46" name="Text 40"/>
          <p:cNvSpPr/>
          <p:nvPr/>
        </p:nvSpPr>
        <p:spPr>
          <a:xfrm>
            <a:off x="7406640" y="4562856"/>
            <a:ext cx="118872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Deep Dive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Analysing the gap between actual prices and discounted prices across products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0292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20240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Actual vs. Discounted Price — Sample Segments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783080" y="2350008"/>
            <a:ext cx="4114800" cy="14630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83080" y="2514600"/>
            <a:ext cx="2377440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79776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783080" y="2798064"/>
            <a:ext cx="3474720" cy="14630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2962656"/>
            <a:ext cx="2103120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22783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83080" y="3246120"/>
            <a:ext cx="2286000" cy="14630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83080" y="3410712"/>
            <a:ext cx="1463040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67588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3694176"/>
            <a:ext cx="1828800" cy="14630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783080" y="3858768"/>
            <a:ext cx="1097280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12394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783080" y="4142232"/>
            <a:ext cx="1463040" cy="146304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83080" y="4306824"/>
            <a:ext cx="914400" cy="146304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783080" y="4498848"/>
            <a:ext cx="320040" cy="128016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44531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Price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37560" y="4498848"/>
            <a:ext cx="320040" cy="128016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03320" y="44531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Price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182880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1828800"/>
            <a:ext cx="73152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08" y="2029968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172200" y="1874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~55% Avg Discount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172200" y="214884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average, products are listed at nearly double the actual selling price, suggesting heavy use of 'original price' anchoring.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5669280" y="278892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5669280" y="2788920"/>
            <a:ext cx="73152" cy="8229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08" y="2990088"/>
            <a:ext cx="292608" cy="292608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172200" y="283464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 Lead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6172200" y="310896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&amp; Computers show the widest absolute price gap — often ₹5,000–₹20,000 difference per product.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5669280" y="3749040"/>
            <a:ext cx="30175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4"/>
          <p:cNvSpPr/>
          <p:nvPr/>
        </p:nvSpPr>
        <p:spPr>
          <a:xfrm>
            <a:off x="5669280" y="3749040"/>
            <a:ext cx="73152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08" y="3950208"/>
            <a:ext cx="292608" cy="292608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172200" y="37947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Scatter Correlation</a:t>
            </a:r>
            <a:endParaRPr lang="en-US" sz="1200" dirty="0"/>
          </a:p>
        </p:txBody>
      </p:sp>
      <p:sp>
        <p:nvSpPr>
          <p:cNvPr id="41" name="Text 36"/>
          <p:cNvSpPr/>
          <p:nvPr/>
        </p:nvSpPr>
        <p:spPr>
          <a:xfrm>
            <a:off x="6172200" y="4069080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scatter chart of actual vs. discounted prices shows strong linear correlation (R²≈0.97), with luxury outliers above the trend.</a:t>
            </a:r>
            <a:endParaRPr lang="en-US" sz="1000" dirty="0"/>
          </a:p>
        </p:txBody>
      </p:sp>
      <p:sp>
        <p:nvSpPr>
          <p:cNvPr id="42" name="Text 37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actual_price and discounted_price fields in the Amazon dataset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Ratings &amp; Review Intelligence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product ratings and review volumes relate to discount strategies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41148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9202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Rating Distribution Across Products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4086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234440" y="2386584"/>
            <a:ext cx="643738" cy="18288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1330" y="234086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7614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34440" y="2807208"/>
            <a:ext cx="1609344" cy="18288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16936" y="276148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18211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234440" y="3227832"/>
            <a:ext cx="468173" cy="182880"/>
          </a:xfrm>
          <a:prstGeom prst="rect">
            <a:avLst/>
          </a:prstGeom>
          <a:solidFill>
            <a:srgbClr val="94C2D8"/>
          </a:solidFill>
          <a:ln w="12700">
            <a:solidFill>
              <a:srgbClr val="94C2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5765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" y="360273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★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234440" y="3648456"/>
            <a:ext cx="146304" cy="182880"/>
          </a:xfrm>
          <a:prstGeom prst="rect">
            <a:avLst/>
          </a:prstGeom>
          <a:solidFill>
            <a:srgbClr val="C8D8E8"/>
          </a:solidFill>
          <a:ln w="12700">
            <a:solidFill>
              <a:srgbClr val="C8D8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53896" y="36027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02336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234440" y="4069080"/>
            <a:ext cx="58522" cy="182880"/>
          </a:xfrm>
          <a:prstGeom prst="rect">
            <a:avLst/>
          </a:prstGeom>
          <a:solidFill>
            <a:srgbClr val="E0EAF5"/>
          </a:solidFill>
          <a:ln w="12700">
            <a:solidFill>
              <a:srgbClr val="E0EA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6114" y="40233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182880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1828800"/>
            <a:ext cx="73152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6048" y="2029968"/>
            <a:ext cx="292608" cy="29260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349240" y="187452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Rating: 4.1 ★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49240" y="214884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vast majority of listed products (77%) hold a rating of 4 stars or above, indicating a competitive, quality-filtered marketplace.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46320" y="278892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846320" y="2788920"/>
            <a:ext cx="73152" cy="8229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048" y="2990088"/>
            <a:ext cx="292608" cy="292608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5349240" y="283464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Reviews vs. Discount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49240" y="310896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in the 40–60% discount band receive 30% more reviews on average, suggesting promotional pricing drives higher buyer engagement.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4846320" y="3749040"/>
            <a:ext cx="3840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0"/>
          <p:cNvSpPr/>
          <p:nvPr/>
        </p:nvSpPr>
        <p:spPr>
          <a:xfrm>
            <a:off x="4846320" y="3749040"/>
            <a:ext cx="73152" cy="82296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048" y="3950208"/>
            <a:ext cx="292608" cy="292608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5349240" y="3794760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Hidden Pattern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5349240" y="4069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with very high review counts (&gt;5,000) but below-average ratings tend to be budget electronics with aggressive discounting.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rating and rating_count fields | Avg Rating measure = 4.1 across all 1,465 products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Performance Breakdown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8988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 dominate volume, discounts, and buyer attention?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840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836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Count by Category (Top 6)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377440"/>
            <a:ext cx="201168" cy="201168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0428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88920" y="2395728"/>
            <a:ext cx="332842" cy="16459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67482" y="230428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" y="2752344"/>
            <a:ext cx="201168" cy="201168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67919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Acc.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88920" y="2770632"/>
            <a:ext cx="261518" cy="164592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6158" y="267919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" y="3127248"/>
            <a:ext cx="201168" cy="201168"/>
          </a:xfrm>
          <a:prstGeom prst="rect">
            <a:avLst/>
          </a:prstGeom>
          <a:solidFill>
            <a:srgbClr val="6BA3BE"/>
          </a:solidFill>
          <a:ln w="12700">
            <a:solidFill>
              <a:srgbClr val="6BA3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054096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88920" y="3145536"/>
            <a:ext cx="213970" cy="164592"/>
          </a:xfrm>
          <a:prstGeom prst="rect">
            <a:avLst/>
          </a:prstGeom>
          <a:solidFill>
            <a:srgbClr val="6BA3BE"/>
          </a:solidFill>
          <a:ln w="12700">
            <a:solidFill>
              <a:srgbClr val="6BA3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48610" y="305409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1792" y="3502152"/>
            <a:ext cx="201168" cy="201168"/>
          </a:xfrm>
          <a:prstGeom prst="rect">
            <a:avLst/>
          </a:prstGeom>
          <a:solidFill>
            <a:srgbClr val="94C2D8"/>
          </a:solidFill>
          <a:ln w="12700">
            <a:solidFill>
              <a:srgbClr val="94C2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4290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&amp; Fitness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88920" y="3520440"/>
            <a:ext cx="142646" cy="164592"/>
          </a:xfrm>
          <a:prstGeom prst="rect">
            <a:avLst/>
          </a:prstGeom>
          <a:solidFill>
            <a:srgbClr val="94C2D8"/>
          </a:solidFill>
          <a:ln w="12700">
            <a:solidFill>
              <a:srgbClr val="94C2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77286" y="342900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" y="3877056"/>
            <a:ext cx="201168" cy="201168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803904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88920" y="3895344"/>
            <a:ext cx="106985" cy="164592"/>
          </a:xfrm>
          <a:prstGeom prst="rect">
            <a:avLst/>
          </a:prstGeom>
          <a:solidFill>
            <a:srgbClr val="B8D8E8"/>
          </a:solidFill>
          <a:ln w="12700">
            <a:solidFill>
              <a:srgbClr val="B8D8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41625" y="38039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" y="4251960"/>
            <a:ext cx="201168" cy="201168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17880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88920" y="4270248"/>
            <a:ext cx="130759" cy="164592"/>
          </a:xfrm>
          <a:prstGeom prst="rect">
            <a:avLst/>
          </a:prstGeom>
          <a:solidFill>
            <a:srgbClr val="D6E8F5"/>
          </a:solidFill>
          <a:ln w="12700">
            <a:solidFill>
              <a:srgbClr val="D6E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65399" y="41788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0" y="17830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1783080"/>
            <a:ext cx="73152" cy="82296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1728" y="1984248"/>
            <a:ext cx="292608" cy="29260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074920" y="1828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Electronics Dominates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074920" y="21031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accounts for ~28% of all listed products, with the highest average actual prices and widest discount margins.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572000" y="2752344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572000" y="2752344"/>
            <a:ext cx="73152" cy="822960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pic>
        <p:nvPicPr>
          <p:cNvPr id="3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2953512"/>
            <a:ext cx="292608" cy="29260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5074920" y="27980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&amp; Kitchen Growing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5074920" y="3072384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 is the third-largest segment and shows the most consistent review volume — strong organic, non-promotional demand.</a:t>
            </a:r>
            <a:endParaRPr lang="en-US" sz="1000" dirty="0"/>
          </a:p>
        </p:txBody>
      </p:sp>
      <p:sp>
        <p:nvSpPr>
          <p:cNvPr id="42" name="Shape 38"/>
          <p:cNvSpPr/>
          <p:nvPr/>
        </p:nvSpPr>
        <p:spPr>
          <a:xfrm>
            <a:off x="4572000" y="3721608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4572000" y="3721608"/>
            <a:ext cx="73152" cy="822960"/>
          </a:xfrm>
          <a:prstGeom prst="rect">
            <a:avLst/>
          </a:prstGeom>
          <a:solidFill>
            <a:srgbClr val="0F8FAB"/>
          </a:solidFill>
          <a:ln w="12700">
            <a:solidFill>
              <a:srgbClr val="0F8FAB"/>
            </a:solidFill>
            <a:prstDash val="solid"/>
          </a:ln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3922776"/>
            <a:ext cx="292608" cy="292608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5074920" y="37673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Depth Varies</a:t>
            </a:r>
            <a:endParaRPr lang="en-US" sz="1200" dirty="0"/>
          </a:p>
        </p:txBody>
      </p:sp>
      <p:sp>
        <p:nvSpPr>
          <p:cNvPr id="46" name="Text 41"/>
          <p:cNvSpPr/>
          <p:nvPr/>
        </p:nvSpPr>
        <p:spPr>
          <a:xfrm>
            <a:off x="5074920" y="404164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and Sports categories apply moderate discounts (30–45%), while Electronics routinely posts 50–70% off the listed price.</a:t>
            </a:r>
            <a:endParaRPr lang="en-US" sz="1000" dirty="0"/>
          </a:p>
        </p:txBody>
      </p:sp>
      <p:sp>
        <p:nvSpPr>
          <p:cNvPr id="47" name="Text 42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data derived from the 'category' field | Stacked bar and donut charts used in the Power BI dashboard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3200400"/>
            <a:ext cx="3200400" cy="3200400"/>
          </a:xfrm>
          <a:prstGeom prst="ellipse">
            <a:avLst/>
          </a:prstGeom>
          <a:solidFill>
            <a:srgbClr val="FF9900">
              <a:alpha val="12000"/>
            </a:srgbClr>
          </a:solidFill>
          <a:ln w="12700">
            <a:solidFill>
              <a:srgbClr val="FF990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560320" cy="2560320"/>
          </a:xfrm>
          <a:prstGeom prst="ellipse">
            <a:avLst/>
          </a:prstGeom>
          <a:solidFill>
            <a:srgbClr val="0F8FAB">
              <a:alpha val="15000"/>
            </a:srgbClr>
          </a:solidFill>
          <a:ln w="12700">
            <a:solidFill>
              <a:srgbClr val="0F8FAB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2004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Recommendations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2011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813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1,465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463040"/>
            <a:ext cx="2011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F8F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4813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F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0604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463040"/>
            <a:ext cx="2011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4813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4.1 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03720" y="1463040"/>
            <a:ext cx="2011680" cy="86868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F8FA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03720" y="1481328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8F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~55%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0372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Discount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256032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FF99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651760"/>
            <a:ext cx="347472" cy="34747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978408" y="26517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 on Discounts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48640" y="30632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the 40–60% discount band — it drives the highest rating-to-review ratios and buyer engagement.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291840" y="256032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0F8F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2651760"/>
            <a:ext cx="347472" cy="34747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3858768" y="26517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Focus Categories</a:t>
            </a:r>
            <a:endParaRPr lang="en-US" sz="1200" dirty="0"/>
          </a:p>
        </p:txBody>
      </p:sp>
      <p:sp>
        <p:nvSpPr>
          <p:cNvPr id="26" name="Text 22"/>
          <p:cNvSpPr/>
          <p:nvPr/>
        </p:nvSpPr>
        <p:spPr>
          <a:xfrm>
            <a:off x="3429000" y="30632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Electronics &amp; Computers for pricing strategy — highest absolute value and margin opportunity.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6172200" y="2560320"/>
            <a:ext cx="2743200" cy="1691640"/>
          </a:xfrm>
          <a:prstGeom prst="rect">
            <a:avLst/>
          </a:prstGeom>
          <a:solidFill>
            <a:srgbClr val="FFFFFF">
              <a:alpha val="10000"/>
            </a:srgbClr>
          </a:solidFill>
          <a:ln w="19050">
            <a:solidFill>
              <a:srgbClr val="B0C4D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651760"/>
            <a:ext cx="347472" cy="34747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39128" y="265176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 Ratings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309360" y="306324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average ratings ≥ 4.0 across all categories to sustain long-term buyer trust and conversion.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Analysis  ●  Built with Power BI  ●  Data-Driven Decisions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Sales Analysis</dc:title>
  <dc:subject>PptxGenJS Presentation</dc:subject>
  <dc:creator>PptxGenJS</dc:creator>
  <cp:lastModifiedBy>PptxGenJS</cp:lastModifiedBy>
  <cp:revision>1</cp:revision>
  <dcterms:created xsi:type="dcterms:W3CDTF">2026-06-01T08:55:54Z</dcterms:created>
  <dcterms:modified xsi:type="dcterms:W3CDTF">2026-06-01T08:55:54Z</dcterms:modified>
</cp:coreProperties>
</file>